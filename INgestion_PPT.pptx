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Muli Bold" charset="1" panose="00000800000000000000"/>
      <p:regular r:id="rId31"/>
    </p:embeddedFont>
    <p:embeddedFont>
      <p:font typeface="Muli" charset="1" panose="000005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48273"/>
            <a:ext cx="16856710" cy="118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b="true" sz="8600" spc="-86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INGESTION DES DONNÉES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8186" y="4521895"/>
            <a:ext cx="21869708" cy="2914431"/>
            <a:chOff x="0" y="0"/>
            <a:chExt cx="29159611" cy="38859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0">
            <a:off x="-8186" y="7398226"/>
            <a:ext cx="18304372" cy="2888774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028700" y="8381384"/>
            <a:ext cx="6420042" cy="87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50"/>
              </a:lnSpc>
              <a:spcBef>
                <a:spcPct val="0"/>
              </a:spcBef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Ing</a:t>
            </a:r>
            <a:r>
              <a:rPr lang="en-US" sz="2500" u="none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estion des données : outils et</a:t>
            </a:r>
            <a:r>
              <a:rPr lang="en-US" sz="2500" u="none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 </a:t>
            </a:r>
            <a:r>
              <a:rPr lang="en-US" sz="2500" u="none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modèles</a:t>
            </a:r>
          </a:p>
          <a:p>
            <a:pPr algn="l" marL="0" indent="0" lvl="0">
              <a:lnSpc>
                <a:spcPts val="355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2" id="12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5932132" y="-651903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16341" y="1283168"/>
            <a:ext cx="1079964" cy="1079964"/>
          </a:xfrm>
          <a:custGeom>
            <a:avLst/>
            <a:gdLst/>
            <a:ahLst/>
            <a:cxnLst/>
            <a:rect r="r" b="b" t="t" l="l"/>
            <a:pathLst>
              <a:path h="1079964" w="1079964">
                <a:moveTo>
                  <a:pt x="0" y="0"/>
                </a:moveTo>
                <a:lnTo>
                  <a:pt x="1079964" y="0"/>
                </a:lnTo>
                <a:lnTo>
                  <a:pt x="1079964" y="1079964"/>
                </a:lnTo>
                <a:lnTo>
                  <a:pt x="0" y="10799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659" y="3552634"/>
            <a:ext cx="4918734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ADZONYA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 Elysée Joël </a:t>
            </a:r>
          </a:p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338581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DAN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TODJI Akouvi Nathalie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43659" y="981075"/>
            <a:ext cx="8853343" cy="80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4999" spc="-4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Les membres du groupes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5600785" y="-872007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47838" y="1597507"/>
            <a:ext cx="1079964" cy="1079964"/>
          </a:xfrm>
          <a:custGeom>
            <a:avLst/>
            <a:gdLst/>
            <a:ahLst/>
            <a:cxnLst/>
            <a:rect r="r" b="b" t="t" l="l"/>
            <a:pathLst>
              <a:path h="1079964" w="1079964">
                <a:moveTo>
                  <a:pt x="0" y="0"/>
                </a:moveTo>
                <a:lnTo>
                  <a:pt x="1079965" y="0"/>
                </a:lnTo>
                <a:lnTo>
                  <a:pt x="1079965" y="1079964"/>
                </a:lnTo>
                <a:lnTo>
                  <a:pt x="0" y="1079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3659" y="5095602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EKL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OU Abla Ghislaine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889106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OK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OUMASSOU Kodjo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641534"/>
            <a:ext cx="6304345" cy="96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MITEKOR Kokouvi Yavin</a:t>
            </a:r>
          </a:p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43659" y="7435038"/>
            <a:ext cx="6304345" cy="47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DZAHIN</a:t>
            </a:r>
            <a:r>
              <a:rPr lang="en-US" b="true" sz="2999" spc="-2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I David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00785" y="-872007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47838" y="1597507"/>
            <a:ext cx="1079964" cy="1079964"/>
          </a:xfrm>
          <a:custGeom>
            <a:avLst/>
            <a:gdLst/>
            <a:ahLst/>
            <a:cxnLst/>
            <a:rect r="r" b="b" t="t" l="l"/>
            <a:pathLst>
              <a:path h="1079964" w="1079964">
                <a:moveTo>
                  <a:pt x="0" y="0"/>
                </a:moveTo>
                <a:lnTo>
                  <a:pt x="1079965" y="0"/>
                </a:lnTo>
                <a:lnTo>
                  <a:pt x="1079965" y="1079964"/>
                </a:lnTo>
                <a:lnTo>
                  <a:pt x="0" y="1079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56204" y="4867275"/>
            <a:ext cx="3775591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Introduction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2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1075"/>
            <a:ext cx="7410986" cy="252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800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Contexte &amp; </a:t>
            </a:r>
            <a:r>
              <a:rPr lang="en-US" b="true" sz="8000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Problématique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59300" y="208367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070116" y="3968793"/>
            <a:ext cx="5790150" cy="1375579"/>
            <a:chOff x="0" y="0"/>
            <a:chExt cx="7720199" cy="183410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7720199" cy="1054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Problème 2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260762"/>
              <a:ext cx="7720199" cy="57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</a:t>
              </a:r>
              <a:r>
                <a:rPr lang="en-US" sz="26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a fiabilité et la qualité des données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70116" y="1028700"/>
            <a:ext cx="5790150" cy="1375579"/>
            <a:chOff x="0" y="0"/>
            <a:chExt cx="7720199" cy="183410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7720199" cy="1054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Problème </a:t>
              </a: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260762"/>
              <a:ext cx="7720199" cy="57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</a:t>
              </a:r>
              <a:r>
                <a:rPr lang="en-US" sz="26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a gestion du volume et de la vitesse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70116" y="6908886"/>
            <a:ext cx="5790150" cy="1468616"/>
            <a:chOff x="0" y="0"/>
            <a:chExt cx="7720199" cy="195815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7720199" cy="1054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Problème 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84811"/>
              <a:ext cx="7720199" cy="573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sz="26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</a:t>
              </a:r>
              <a:r>
                <a:rPr lang="en-US" sz="26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e choix des modèles et des outils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978340" y="1160917"/>
            <a:ext cx="568160" cy="568160"/>
          </a:xfrm>
          <a:custGeom>
            <a:avLst/>
            <a:gdLst/>
            <a:ahLst/>
            <a:cxnLst/>
            <a:rect r="r" b="b" t="t" l="l"/>
            <a:pathLst>
              <a:path h="568160" w="568160">
                <a:moveTo>
                  <a:pt x="0" y="0"/>
                </a:moveTo>
                <a:lnTo>
                  <a:pt x="568160" y="0"/>
                </a:lnTo>
                <a:lnTo>
                  <a:pt x="568160" y="568160"/>
                </a:lnTo>
                <a:lnTo>
                  <a:pt x="0" y="568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78340" y="4101010"/>
            <a:ext cx="568160" cy="568160"/>
          </a:xfrm>
          <a:custGeom>
            <a:avLst/>
            <a:gdLst/>
            <a:ahLst/>
            <a:cxnLst/>
            <a:rect r="r" b="b" t="t" l="l"/>
            <a:pathLst>
              <a:path h="568160" w="568160">
                <a:moveTo>
                  <a:pt x="0" y="0"/>
                </a:moveTo>
                <a:lnTo>
                  <a:pt x="568160" y="0"/>
                </a:lnTo>
                <a:lnTo>
                  <a:pt x="568160" y="568160"/>
                </a:lnTo>
                <a:lnTo>
                  <a:pt x="0" y="568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78340" y="7041104"/>
            <a:ext cx="568160" cy="568160"/>
          </a:xfrm>
          <a:custGeom>
            <a:avLst/>
            <a:gdLst/>
            <a:ahLst/>
            <a:cxnLst/>
            <a:rect r="r" b="b" t="t" l="l"/>
            <a:pathLst>
              <a:path h="568160" w="568160">
                <a:moveTo>
                  <a:pt x="0" y="0"/>
                </a:moveTo>
                <a:lnTo>
                  <a:pt x="568160" y="0"/>
                </a:lnTo>
                <a:lnTo>
                  <a:pt x="568160" y="568159"/>
                </a:lnTo>
                <a:lnTo>
                  <a:pt x="0" y="56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-1430732" y="208367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81075"/>
            <a:ext cx="6127861" cy="125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Définition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80953" y="2457539"/>
            <a:ext cx="12079002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  <a:r>
              <a:rPr lang="en-US" sz="3800" spc="-38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Qu’est ce que l’ingestion de données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362" y="1283093"/>
            <a:ext cx="13203152" cy="3833305"/>
            <a:chOff x="0" y="0"/>
            <a:chExt cx="17604202" cy="51110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08204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M</a:t>
              </a: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odèle d’ingestion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13102"/>
              <a:ext cx="17604202" cy="239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L’</a:t>
              </a:r>
              <a:r>
                <a:rPr lang="en-US" sz="2599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ingestion en batch consiste à collecter les données par lots, à des intervalles réguliers. Les données sont d’abord stockées, puis transférées en une seule fois vers le système de stockage.</a:t>
              </a:r>
            </a:p>
            <a:p>
              <a:pPr algn="l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3201650" y="8383568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707896" y="7372569"/>
            <a:ext cx="21869708" cy="2914431"/>
            <a:chOff x="0" y="0"/>
            <a:chExt cx="29159611" cy="3885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818061"/>
            <a:ext cx="18288000" cy="6141761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436176" y="3988058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1580891" y="6187577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Limites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0891" y="2945026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Avantages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362" y="1283093"/>
            <a:ext cx="13203152" cy="3376105"/>
            <a:chOff x="0" y="0"/>
            <a:chExt cx="17604202" cy="450147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47625"/>
              <a:ext cx="10820400" cy="1055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 spc="-50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 Ingestion en Streaming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713102"/>
              <a:ext cx="17604202" cy="1788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L’</a:t>
              </a:r>
              <a:r>
                <a:rPr lang="en-US" sz="2599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ingestion en streaming permet de traiter les données en continu, dès leur production. Chaque événement est transmis immédiatement au système cible.</a:t>
              </a:r>
            </a:p>
            <a:p>
              <a:pPr algn="l" marL="0" indent="0" lvl="0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3201650" y="8383568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707896" y="7372569"/>
            <a:ext cx="21869708" cy="2914431"/>
            <a:chOff x="0" y="0"/>
            <a:chExt cx="29159611" cy="38859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136483"/>
            <a:ext cx="14690207" cy="9150517"/>
          </a:xfrm>
          <a:custGeom>
            <a:avLst/>
            <a:gdLst/>
            <a:ahLst/>
            <a:cxnLst/>
            <a:rect r="r" b="b" t="t" l="l"/>
            <a:pathLst>
              <a:path h="9150517" w="14690207">
                <a:moveTo>
                  <a:pt x="0" y="0"/>
                </a:moveTo>
                <a:lnTo>
                  <a:pt x="14690207" y="0"/>
                </a:lnTo>
                <a:lnTo>
                  <a:pt x="14690207" y="9150517"/>
                </a:lnTo>
                <a:lnTo>
                  <a:pt x="0" y="9150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74625"/>
            <a:ext cx="1531429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Traitement des données  (Streaming / Batch)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818061"/>
            <a:ext cx="18288000" cy="6141761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436176" y="3988058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2" y="0"/>
                </a:lnTo>
                <a:lnTo>
                  <a:pt x="2872352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TextBox 9" id="9"/>
          <p:cNvSpPr txBox="true"/>
          <p:nvPr/>
        </p:nvSpPr>
        <p:spPr>
          <a:xfrm rot="0">
            <a:off x="1580891" y="6187577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Défis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0891" y="2945026"/>
            <a:ext cx="7194058" cy="126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Avantages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41" y="3077722"/>
            <a:ext cx="4566630" cy="1086796"/>
            <a:chOff x="0" y="0"/>
            <a:chExt cx="2774948" cy="660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48" cy="660400"/>
            </a:xfrm>
            <a:custGeom>
              <a:avLst/>
              <a:gdLst/>
              <a:ahLst/>
              <a:cxnLst/>
              <a:rect r="r" b="b" t="t" l="l"/>
              <a:pathLst>
                <a:path h="660400" w="2774948">
                  <a:moveTo>
                    <a:pt x="265048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50488" y="0"/>
                  </a:lnTo>
                  <a:cubicBezTo>
                    <a:pt x="2719068" y="0"/>
                    <a:pt x="2774948" y="55880"/>
                    <a:pt x="2774948" y="124460"/>
                  </a:cubicBezTo>
                  <a:lnTo>
                    <a:pt x="2774948" y="535940"/>
                  </a:lnTo>
                  <a:cubicBezTo>
                    <a:pt x="2774948" y="604520"/>
                    <a:pt x="2719068" y="660400"/>
                    <a:pt x="2650488" y="660400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07483" y="3364936"/>
            <a:ext cx="3662145" cy="4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3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Critère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5241" y="4575396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Latence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5241" y="1178872"/>
            <a:ext cx="6339698" cy="805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Ba</a:t>
            </a:r>
            <a:r>
              <a:rPr lang="en-US" b="true" sz="5000" spc="-50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tch vs Streaming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860685" y="3077722"/>
            <a:ext cx="4566630" cy="1086796"/>
            <a:chOff x="0" y="0"/>
            <a:chExt cx="2774948" cy="660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4948" cy="660400"/>
            </a:xfrm>
            <a:custGeom>
              <a:avLst/>
              <a:gdLst/>
              <a:ahLst/>
              <a:cxnLst/>
              <a:rect r="r" b="b" t="t" l="l"/>
              <a:pathLst>
                <a:path h="660400" w="2774948">
                  <a:moveTo>
                    <a:pt x="265048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50488" y="0"/>
                  </a:lnTo>
                  <a:cubicBezTo>
                    <a:pt x="2719068" y="0"/>
                    <a:pt x="2774948" y="55880"/>
                    <a:pt x="2774948" y="124460"/>
                  </a:cubicBezTo>
                  <a:lnTo>
                    <a:pt x="2774948" y="535940"/>
                  </a:lnTo>
                  <a:cubicBezTo>
                    <a:pt x="2774948" y="604520"/>
                    <a:pt x="2719068" y="660400"/>
                    <a:pt x="2650488" y="660400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312928" y="3364936"/>
            <a:ext cx="3662145" cy="4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3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Batch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692670" y="3077722"/>
            <a:ext cx="4566630" cy="1086796"/>
            <a:chOff x="0" y="0"/>
            <a:chExt cx="2774948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4948" cy="660400"/>
            </a:xfrm>
            <a:custGeom>
              <a:avLst/>
              <a:gdLst/>
              <a:ahLst/>
              <a:cxnLst/>
              <a:rect r="r" b="b" t="t" l="l"/>
              <a:pathLst>
                <a:path h="660400" w="2774948">
                  <a:moveTo>
                    <a:pt x="2650488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50488" y="0"/>
                  </a:lnTo>
                  <a:cubicBezTo>
                    <a:pt x="2719068" y="0"/>
                    <a:pt x="2774948" y="55880"/>
                    <a:pt x="2774948" y="124460"/>
                  </a:cubicBezTo>
                  <a:lnTo>
                    <a:pt x="2774948" y="535940"/>
                  </a:lnTo>
                  <a:cubicBezTo>
                    <a:pt x="2774948" y="604520"/>
                    <a:pt x="2719068" y="660400"/>
                    <a:pt x="2650488" y="660400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144913" y="3364936"/>
            <a:ext cx="3662145" cy="48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3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Streaming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-1787284" y="1028700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55241" y="5621984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Volume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5241" y="6668573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Complexité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241" y="7715161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Cas d’usage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0685" y="4575396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Elevée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60685" y="5621984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Très Très grand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60685" y="6668573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Faible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60685" y="7715161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Reporting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92670" y="4575396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Faible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92670" y="5621984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Continu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92670" y="6668573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Elevée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92670" y="7715161"/>
            <a:ext cx="4566630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</a:pPr>
            <a:r>
              <a:rPr lang="en-US" sz="2500">
                <a:solidFill>
                  <a:srgbClr val="F8F8F8"/>
                </a:solidFill>
                <a:latin typeface="Muli"/>
                <a:ea typeface="Muli"/>
                <a:cs typeface="Muli"/>
                <a:sym typeface="Muli"/>
              </a:rPr>
              <a:t>IoT, Fraude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06135"/>
            <a:ext cx="18288000" cy="10383610"/>
          </a:xfrm>
          <a:custGeom>
            <a:avLst/>
            <a:gdLst/>
            <a:ahLst/>
            <a:cxnLst/>
            <a:rect r="r" b="b" t="t" l="l"/>
            <a:pathLst>
              <a:path h="10383610" w="18288000">
                <a:moveTo>
                  <a:pt x="0" y="0"/>
                </a:moveTo>
                <a:lnTo>
                  <a:pt x="18288000" y="0"/>
                </a:lnTo>
                <a:lnTo>
                  <a:pt x="18288000" y="10383610"/>
                </a:lnTo>
                <a:lnTo>
                  <a:pt x="0" y="10383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71" r="0" b="-8671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382665" y="4983690"/>
            <a:ext cx="8229600" cy="319621"/>
            <a:chOff x="0" y="0"/>
            <a:chExt cx="14714997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14714998" cy="69850"/>
            </a:xfrm>
            <a:custGeom>
              <a:avLst/>
              <a:gdLst/>
              <a:ahLst/>
              <a:cxnLst/>
              <a:rect r="r" b="b" t="t" l="l"/>
              <a:pathLst>
                <a:path h="69850" w="14714998">
                  <a:moveTo>
                    <a:pt x="1442416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4714998" y="69850"/>
                  </a:lnTo>
                  <a:lnTo>
                    <a:pt x="14714998" y="0"/>
                  </a:ln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76058" y="1793852"/>
            <a:ext cx="642813" cy="596303"/>
            <a:chOff x="0" y="0"/>
            <a:chExt cx="857084" cy="7950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76058" y="4579153"/>
            <a:ext cx="642813" cy="596303"/>
            <a:chOff x="0" y="0"/>
            <a:chExt cx="857084" cy="7950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81163" y="72849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76058" y="7364455"/>
            <a:ext cx="642813" cy="596303"/>
            <a:chOff x="0" y="0"/>
            <a:chExt cx="857084" cy="7950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-1843651" y="3952662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4000" y="1409613"/>
            <a:ext cx="7816137" cy="1492614"/>
            <a:chOff x="0" y="0"/>
            <a:chExt cx="10421517" cy="199015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4809154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Sqoop &amp; Flume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857250"/>
              <a:ext cx="10421517" cy="113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Permet d’importer et d’exporter des données entre les bases SQL et l’écosystème Hadoop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0" y="6925901"/>
            <a:ext cx="7313065" cy="1457667"/>
            <a:chOff x="0" y="0"/>
            <a:chExt cx="9750754" cy="1943556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Apach</a:t>
              </a: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e NiFi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820179"/>
              <a:ext cx="9750754" cy="1123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Interface graphique pour concevoir et gérer des flux de données</a:t>
              </a:r>
              <a:r>
                <a:rPr lang="en-US" sz="2499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4198649"/>
            <a:ext cx="5880969" cy="1430830"/>
            <a:chOff x="0" y="0"/>
            <a:chExt cx="7841291" cy="1907773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Kafka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2700" y="774871"/>
              <a:ext cx="7828591" cy="113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Système de messagerie distribuée pour le streaming de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données.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28700" y="981075"/>
            <a:ext cx="5925759" cy="8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Outils d’ingesion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79505"/>
            <a:ext cx="18288000" cy="7597845"/>
          </a:xfrm>
          <a:custGeom>
            <a:avLst/>
            <a:gdLst/>
            <a:ahLst/>
            <a:cxnLst/>
            <a:rect r="r" b="b" t="t" l="l"/>
            <a:pathLst>
              <a:path h="7597845" w="18288000">
                <a:moveTo>
                  <a:pt x="0" y="0"/>
                </a:moveTo>
                <a:lnTo>
                  <a:pt x="18288000" y="0"/>
                </a:lnTo>
                <a:lnTo>
                  <a:pt x="18288000" y="7597845"/>
                </a:lnTo>
                <a:lnTo>
                  <a:pt x="0" y="75978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4408" y="554038"/>
            <a:ext cx="920269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Source de données applicative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740" y="1208200"/>
            <a:ext cx="16303157" cy="9170526"/>
          </a:xfrm>
          <a:custGeom>
            <a:avLst/>
            <a:gdLst/>
            <a:ahLst/>
            <a:cxnLst/>
            <a:rect r="r" b="b" t="t" l="l"/>
            <a:pathLst>
              <a:path h="9170526" w="16303157">
                <a:moveTo>
                  <a:pt x="0" y="0"/>
                </a:moveTo>
                <a:lnTo>
                  <a:pt x="16303157" y="0"/>
                </a:lnTo>
                <a:lnTo>
                  <a:pt x="16303157" y="9170526"/>
                </a:lnTo>
                <a:lnTo>
                  <a:pt x="0" y="917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7" t="-3352" r="0" b="-540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3740" y="174624"/>
            <a:ext cx="7354967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Kafka - Exemple concret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0602" y="1234231"/>
            <a:ext cx="11606114" cy="9052769"/>
          </a:xfrm>
          <a:custGeom>
            <a:avLst/>
            <a:gdLst/>
            <a:ahLst/>
            <a:cxnLst/>
            <a:rect r="r" b="b" t="t" l="l"/>
            <a:pathLst>
              <a:path h="9052769" w="11606114">
                <a:moveTo>
                  <a:pt x="0" y="0"/>
                </a:moveTo>
                <a:lnTo>
                  <a:pt x="11606114" y="0"/>
                </a:lnTo>
                <a:lnTo>
                  <a:pt x="11606114" y="9052769"/>
                </a:lnTo>
                <a:lnTo>
                  <a:pt x="0" y="9052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602" y="174625"/>
            <a:ext cx="88649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Format des données ingérées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7856" y="1251467"/>
            <a:ext cx="17153690" cy="9035533"/>
          </a:xfrm>
          <a:custGeom>
            <a:avLst/>
            <a:gdLst/>
            <a:ahLst/>
            <a:cxnLst/>
            <a:rect r="r" b="b" t="t" l="l"/>
            <a:pathLst>
              <a:path h="9035533" w="17153690">
                <a:moveTo>
                  <a:pt x="0" y="0"/>
                </a:moveTo>
                <a:lnTo>
                  <a:pt x="17153690" y="0"/>
                </a:lnTo>
                <a:lnTo>
                  <a:pt x="17153690" y="9035533"/>
                </a:lnTo>
                <a:lnTo>
                  <a:pt x="0" y="9035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7856" y="235467"/>
            <a:ext cx="1245441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Cas d’usage : données web en temps réel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2061" y="3695810"/>
            <a:ext cx="21869708" cy="2914431"/>
            <a:chOff x="0" y="0"/>
            <a:chExt cx="29159611" cy="38859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259300" y="4895215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-10800000">
            <a:off x="0" y="6581665"/>
            <a:ext cx="18288000" cy="3742652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TextBox 8" id="8"/>
          <p:cNvSpPr txBox="true"/>
          <p:nvPr/>
        </p:nvSpPr>
        <p:spPr>
          <a:xfrm rot="0">
            <a:off x="1028700" y="971550"/>
            <a:ext cx="8360022" cy="84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5"/>
              </a:lnSpc>
              <a:spcBef>
                <a:spcPct val="0"/>
              </a:spcBef>
            </a:pPr>
            <a:r>
              <a:rPr lang="en-US" b="true" sz="5166" spc="-51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Data Lake &amp; Architecture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76223" y="4646930"/>
            <a:ext cx="496570" cy="496570"/>
          </a:xfrm>
          <a:custGeom>
            <a:avLst/>
            <a:gdLst/>
            <a:ahLst/>
            <a:cxnLst/>
            <a:rect r="r" b="b" t="t" l="l"/>
            <a:pathLst>
              <a:path h="496570" w="496570">
                <a:moveTo>
                  <a:pt x="0" y="0"/>
                </a:moveTo>
                <a:lnTo>
                  <a:pt x="496570" y="0"/>
                </a:lnTo>
                <a:lnTo>
                  <a:pt x="496570" y="496570"/>
                </a:lnTo>
                <a:lnTo>
                  <a:pt x="0" y="496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-1430732" y="208367"/>
            <a:ext cx="2459432" cy="2287272"/>
          </a:xfrm>
          <a:custGeom>
            <a:avLst/>
            <a:gdLst/>
            <a:ahLst/>
            <a:cxnLst/>
            <a:rect r="r" b="b" t="t" l="l"/>
            <a:pathLst>
              <a:path h="2287272" w="245943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81075"/>
            <a:ext cx="1347783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000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Le concept de Data Lake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57539"/>
            <a:ext cx="12079002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0"/>
              </a:lnSpc>
            </a:pPr>
            <a:r>
              <a:rPr lang="en-US" sz="3800" spc="-38">
                <a:solidFill>
                  <a:srgbClr val="1D1233"/>
                </a:solidFill>
                <a:latin typeface="Muli"/>
                <a:ea typeface="Muli"/>
                <a:cs typeface="Muli"/>
                <a:sym typeface="Muli"/>
              </a:rPr>
              <a:t>Pourquoi stocker avant de transformer</a:t>
            </a:r>
          </a:p>
          <a:p>
            <a:pPr algn="l" marL="0" indent="0" lvl="0">
              <a:lnSpc>
                <a:spcPts val="4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78865" y="3436235"/>
            <a:ext cx="6731685" cy="56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49"/>
              </a:lnSpc>
              <a:spcBef>
                <a:spcPct val="0"/>
              </a:spcBef>
            </a:pPr>
            <a:r>
              <a:rPr lang="en-US" b="true" sz="3499" spc="-34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ETL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79490" y="5107015"/>
            <a:ext cx="6731060" cy="56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49"/>
              </a:lnSpc>
              <a:spcBef>
                <a:spcPct val="0"/>
              </a:spcBef>
            </a:pPr>
            <a:r>
              <a:rPr lang="en-US" b="true" sz="3499" spc="-34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ETL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566104" y="3494917"/>
            <a:ext cx="314186" cy="314186"/>
            <a:chOff x="1371600" y="6705600"/>
            <a:chExt cx="10972800" cy="1097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566729" y="5165697"/>
            <a:ext cx="314186" cy="314186"/>
            <a:chOff x="1371600" y="6705600"/>
            <a:chExt cx="10972800" cy="1097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71545" y="6681009"/>
              <a:ext cx="10972910" cy="11021982"/>
            </a:xfrm>
            <a:custGeom>
              <a:avLst/>
              <a:gdLst/>
              <a:ahLst/>
              <a:cxnLst/>
              <a:rect r="r" b="b" t="t" l="l"/>
              <a:pathLst>
                <a:path h="11021982" w="10972910">
                  <a:moveTo>
                    <a:pt x="55" y="5510991"/>
                  </a:moveTo>
                  <a:cubicBezTo>
                    <a:pt x="-8737" y="7476938"/>
                    <a:pt x="1035038" y="9297321"/>
                    <a:pt x="2736148" y="10282842"/>
                  </a:cubicBezTo>
                  <a:cubicBezTo>
                    <a:pt x="4437257" y="11268362"/>
                    <a:pt x="6535652" y="11268362"/>
                    <a:pt x="8236762" y="10282842"/>
                  </a:cubicBezTo>
                  <a:cubicBezTo>
                    <a:pt x="9937872" y="9297321"/>
                    <a:pt x="10981647" y="7476938"/>
                    <a:pt x="10972855" y="5510991"/>
                  </a:cubicBezTo>
                  <a:cubicBezTo>
                    <a:pt x="10981647" y="3545044"/>
                    <a:pt x="9937872" y="1724661"/>
                    <a:pt x="8236762" y="739140"/>
                  </a:cubicBezTo>
                  <a:cubicBezTo>
                    <a:pt x="6535652" y="-246380"/>
                    <a:pt x="4437257" y="-246380"/>
                    <a:pt x="2736148" y="739140"/>
                  </a:cubicBezTo>
                  <a:cubicBezTo>
                    <a:pt x="1035038" y="1724661"/>
                    <a:pt x="-8737" y="3545044"/>
                    <a:pt x="55" y="5510991"/>
                  </a:cubicBezTo>
                  <a:close/>
                </a:path>
              </a:pathLst>
            </a:custGeom>
            <a:solidFill>
              <a:srgbClr val="2620F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981075"/>
            <a:ext cx="15143550" cy="1630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Deux appr</a:t>
            </a:r>
            <a:r>
              <a:rPr lang="en-US" b="true" sz="5000" spc="-50" u="none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oches de traitement sont généralement distinguées: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702732" y="6587013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604264" y="4983690"/>
            <a:ext cx="8229600" cy="319621"/>
            <a:chOff x="0" y="0"/>
            <a:chExt cx="14714997" cy="571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5270"/>
              <a:ext cx="14714998" cy="69850"/>
            </a:xfrm>
            <a:custGeom>
              <a:avLst/>
              <a:gdLst/>
              <a:ahLst/>
              <a:cxnLst/>
              <a:rect r="r" b="b" t="t" l="l"/>
              <a:pathLst>
                <a:path h="69850" w="14714998">
                  <a:moveTo>
                    <a:pt x="1442416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4714998" y="69850"/>
                  </a:lnTo>
                  <a:lnTo>
                    <a:pt x="14714998" y="0"/>
                  </a:ln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97657" y="1793852"/>
            <a:ext cx="642813" cy="596303"/>
            <a:chOff x="0" y="0"/>
            <a:chExt cx="857084" cy="79507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97657" y="3827866"/>
            <a:ext cx="642813" cy="596303"/>
            <a:chOff x="0" y="0"/>
            <a:chExt cx="857084" cy="7950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81163" y="72849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97657" y="5862197"/>
            <a:ext cx="642813" cy="596303"/>
            <a:chOff x="0" y="0"/>
            <a:chExt cx="857084" cy="7950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97657" y="7896528"/>
            <a:ext cx="642813" cy="596303"/>
            <a:chOff x="0" y="0"/>
            <a:chExt cx="857084" cy="79507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57084" cy="795071"/>
              <a:chOff x="0" y="0"/>
              <a:chExt cx="711909" cy="660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620F6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81163" y="82975"/>
              <a:ext cx="694757" cy="610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706"/>
                </a:lnSpc>
                <a:spcBef>
                  <a:spcPct val="0"/>
                </a:spcBef>
              </a:pPr>
              <a:r>
                <a:rPr lang="en-US" b="true" sz="2941" u="none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23" id="23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25" id="25"/>
          <p:cNvSpPr/>
          <p:nvPr/>
        </p:nvSpPr>
        <p:spPr>
          <a:xfrm flipH="false" flipV="false" rot="0">
            <a:off x="-1843651" y="3952662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934840" y="1544000"/>
            <a:ext cx="3194146" cy="1096008"/>
            <a:chOff x="0" y="0"/>
            <a:chExt cx="4258862" cy="1461344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Raw /</a:t>
              </a: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 Landing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données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brutes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34840" y="7646993"/>
            <a:ext cx="3194146" cy="1096008"/>
            <a:chOff x="0" y="0"/>
            <a:chExt cx="4258862" cy="1461344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Gold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données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prêtes BI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34840" y="5612662"/>
            <a:ext cx="3194146" cy="1096008"/>
            <a:chOff x="0" y="0"/>
            <a:chExt cx="4258862" cy="1461344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Silver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données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structurées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34840" y="3578331"/>
            <a:ext cx="3194146" cy="1096008"/>
            <a:chOff x="0" y="0"/>
            <a:chExt cx="4258862" cy="1461344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28575"/>
              <a:ext cx="4258862" cy="7329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Bronz</a:t>
              </a:r>
              <a:r>
                <a:rPr lang="en-US" b="true" sz="3499" spc="-34" u="none">
                  <a:solidFill>
                    <a:srgbClr val="1D1233"/>
                  </a:solidFill>
                  <a:latin typeface="Muli Bold"/>
                  <a:ea typeface="Muli Bold"/>
                  <a:cs typeface="Muli Bold"/>
                  <a:sym typeface="Muli Bold"/>
                </a:rPr>
                <a:t>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913414"/>
              <a:ext cx="4258862" cy="547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nettoyage</a:t>
              </a:r>
              <a:r>
                <a:rPr lang="en-US" sz="2500" u="none">
                  <a:solidFill>
                    <a:srgbClr val="1D1233"/>
                  </a:solidFill>
                  <a:latin typeface="Muli"/>
                  <a:ea typeface="Muli"/>
                  <a:cs typeface="Muli"/>
                  <a:sym typeface="Muli"/>
                </a:rPr>
                <a:t> léger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28700" y="981075"/>
            <a:ext cx="6589972" cy="80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 spc="-50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Zones d</a:t>
            </a:r>
            <a:r>
              <a:rPr lang="en-US" b="true" sz="5000" spc="-50" u="none">
                <a:solidFill>
                  <a:srgbClr val="1D1233"/>
                </a:solidFill>
                <a:latin typeface="Muli Bold"/>
                <a:ea typeface="Muli Bold"/>
                <a:cs typeface="Muli Bold"/>
                <a:sym typeface="Muli Bold"/>
              </a:rPr>
              <a:t>u Data Lake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676226" y="1790526"/>
            <a:ext cx="7467774" cy="7467774"/>
          </a:xfrm>
          <a:custGeom>
            <a:avLst/>
            <a:gdLst/>
            <a:ahLst/>
            <a:cxnLst/>
            <a:rect r="r" b="b" t="t" l="l"/>
            <a:pathLst>
              <a:path h="7467774" w="7467774">
                <a:moveTo>
                  <a:pt x="0" y="0"/>
                </a:moveTo>
                <a:lnTo>
                  <a:pt x="7467774" y="0"/>
                </a:lnTo>
                <a:lnTo>
                  <a:pt x="7467774" y="7467774"/>
                </a:lnTo>
                <a:lnTo>
                  <a:pt x="0" y="74677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20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16341" y="8383568"/>
            <a:ext cx="942959" cy="874732"/>
            <a:chOff x="0" y="0"/>
            <a:chExt cx="1257278" cy="11663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57278" cy="1166309"/>
              <a:chOff x="0" y="0"/>
              <a:chExt cx="711909" cy="660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1191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711910">
                    <a:moveTo>
                      <a:pt x="587449" y="660400"/>
                    </a:moveTo>
                    <a:lnTo>
                      <a:pt x="124460" y="660400"/>
                    </a:lnTo>
                    <a:cubicBezTo>
                      <a:pt x="55880" y="660400"/>
                      <a:pt x="0" y="604520"/>
                      <a:pt x="0" y="53594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87450" y="0"/>
                    </a:lnTo>
                    <a:cubicBezTo>
                      <a:pt x="656030" y="0"/>
                      <a:pt x="711910" y="55880"/>
                      <a:pt x="711910" y="124460"/>
                    </a:cubicBezTo>
                    <a:lnTo>
                      <a:pt x="711910" y="535940"/>
                    </a:lnTo>
                    <a:cubicBezTo>
                      <a:pt x="711910" y="604520"/>
                      <a:pt x="656030" y="660400"/>
                      <a:pt x="587450" y="660400"/>
                    </a:cubicBezTo>
                    <a:close/>
                  </a:path>
                </a:pathLst>
              </a:custGeom>
              <a:solidFill>
                <a:srgbClr val="231279"/>
              </a:solidFill>
            </p:spPr>
          </p:sp>
        </p:grpSp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-5400000">
              <a:off x="480448" y="452754"/>
              <a:ext cx="387885" cy="260802"/>
              <a:chOff x="0" y="0"/>
              <a:chExt cx="1930400" cy="12979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30400" cy="1297940"/>
              </a:xfrm>
              <a:custGeom>
                <a:avLst/>
                <a:gdLst/>
                <a:ahLst/>
                <a:cxnLst/>
                <a:rect r="r" b="b" t="t" l="l"/>
                <a:pathLst>
                  <a:path h="1297940" w="1930400">
                    <a:moveTo>
                      <a:pt x="0" y="0"/>
                    </a:moveTo>
                    <a:lnTo>
                      <a:pt x="965200" y="1297940"/>
                    </a:lnTo>
                    <a:lnTo>
                      <a:pt x="1930400" y="0"/>
                    </a:lnTo>
                    <a:close/>
                  </a:path>
                </a:pathLst>
              </a:custGeom>
              <a:solidFill>
                <a:srgbClr val="F8F8F8"/>
              </a:solidFill>
            </p:spPr>
          </p:sp>
        </p:grpSp>
      </p:grpSp>
      <p:sp>
        <p:nvSpPr>
          <p:cNvPr name="Freeform 7" id="7"/>
          <p:cNvSpPr/>
          <p:nvPr/>
        </p:nvSpPr>
        <p:spPr>
          <a:xfrm flipH="false" flipV="false" rot="0">
            <a:off x="17005644" y="1028700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7"/>
                </a:lnTo>
                <a:lnTo>
                  <a:pt x="0" y="267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706651" y="6866031"/>
            <a:ext cx="1429661" cy="1326219"/>
            <a:chOff x="0" y="0"/>
            <a:chExt cx="711909" cy="66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910" cy="660400"/>
            </a:xfrm>
            <a:custGeom>
              <a:avLst/>
              <a:gdLst/>
              <a:ahLst/>
              <a:cxnLst/>
              <a:rect r="r" b="b" t="t" l="l"/>
              <a:pathLst>
                <a:path h="660400" w="711910">
                  <a:moveTo>
                    <a:pt x="58744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7450" y="0"/>
                  </a:lnTo>
                  <a:cubicBezTo>
                    <a:pt x="656030" y="0"/>
                    <a:pt x="711910" y="55880"/>
                    <a:pt x="711910" y="124460"/>
                  </a:cubicBezTo>
                  <a:lnTo>
                    <a:pt x="711910" y="535940"/>
                  </a:lnTo>
                  <a:cubicBezTo>
                    <a:pt x="711910" y="604520"/>
                    <a:pt x="656030" y="660400"/>
                    <a:pt x="587450" y="660400"/>
                  </a:cubicBez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06651" y="3889236"/>
            <a:ext cx="1429661" cy="1326219"/>
            <a:chOff x="0" y="0"/>
            <a:chExt cx="711909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1910" cy="660400"/>
            </a:xfrm>
            <a:custGeom>
              <a:avLst/>
              <a:gdLst/>
              <a:ahLst/>
              <a:cxnLst/>
              <a:rect r="r" b="b" t="t" l="l"/>
              <a:pathLst>
                <a:path h="660400" w="711910">
                  <a:moveTo>
                    <a:pt x="58744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7450" y="0"/>
                  </a:lnTo>
                  <a:cubicBezTo>
                    <a:pt x="656030" y="0"/>
                    <a:pt x="711910" y="55880"/>
                    <a:pt x="711910" y="124460"/>
                  </a:cubicBezTo>
                  <a:lnTo>
                    <a:pt x="711910" y="535940"/>
                  </a:lnTo>
                  <a:cubicBezTo>
                    <a:pt x="711910" y="604520"/>
                    <a:pt x="656030" y="660400"/>
                    <a:pt x="587450" y="660400"/>
                  </a:cubicBezTo>
                  <a:close/>
                </a:path>
              </a:pathLst>
            </a:custGeom>
            <a:solidFill>
              <a:srgbClr val="23127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06651" y="1028700"/>
            <a:ext cx="1429661" cy="1326219"/>
            <a:chOff x="0" y="0"/>
            <a:chExt cx="711909" cy="66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1910" cy="660400"/>
            </a:xfrm>
            <a:custGeom>
              <a:avLst/>
              <a:gdLst/>
              <a:ahLst/>
              <a:cxnLst/>
              <a:rect r="r" b="b" t="t" l="l"/>
              <a:pathLst>
                <a:path h="660400" w="711910">
                  <a:moveTo>
                    <a:pt x="587449" y="660400"/>
                  </a:moveTo>
                  <a:lnTo>
                    <a:pt x="124460" y="660400"/>
                  </a:lnTo>
                  <a:cubicBezTo>
                    <a:pt x="55880" y="660400"/>
                    <a:pt x="0" y="604520"/>
                    <a:pt x="0" y="5359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587450" y="0"/>
                  </a:lnTo>
                  <a:cubicBezTo>
                    <a:pt x="656030" y="0"/>
                    <a:pt x="711910" y="55880"/>
                    <a:pt x="711910" y="124460"/>
                  </a:cubicBezTo>
                  <a:lnTo>
                    <a:pt x="711910" y="535940"/>
                  </a:lnTo>
                  <a:cubicBezTo>
                    <a:pt x="711910" y="604520"/>
                    <a:pt x="656030" y="660400"/>
                    <a:pt x="587450" y="660400"/>
                  </a:cubicBezTo>
                  <a:close/>
                </a:path>
              </a:pathLst>
            </a:custGeom>
            <a:solidFill>
              <a:srgbClr val="231279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017727" y="1295901"/>
            <a:ext cx="814019" cy="791818"/>
          </a:xfrm>
          <a:custGeom>
            <a:avLst/>
            <a:gdLst/>
            <a:ahLst/>
            <a:cxnLst/>
            <a:rect r="r" b="b" t="t" l="l"/>
            <a:pathLst>
              <a:path h="791818" w="814019">
                <a:moveTo>
                  <a:pt x="0" y="0"/>
                </a:moveTo>
                <a:lnTo>
                  <a:pt x="814019" y="0"/>
                </a:lnTo>
                <a:lnTo>
                  <a:pt x="814019" y="791818"/>
                </a:lnTo>
                <a:lnTo>
                  <a:pt x="0" y="79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16543" y="7059446"/>
            <a:ext cx="1016388" cy="939389"/>
          </a:xfrm>
          <a:custGeom>
            <a:avLst/>
            <a:gdLst/>
            <a:ahLst/>
            <a:cxnLst/>
            <a:rect r="r" b="b" t="t" l="l"/>
            <a:pathLst>
              <a:path h="939389" w="1016388">
                <a:moveTo>
                  <a:pt x="0" y="0"/>
                </a:moveTo>
                <a:lnTo>
                  <a:pt x="1016387" y="0"/>
                </a:lnTo>
                <a:lnTo>
                  <a:pt x="1016387" y="939389"/>
                </a:lnTo>
                <a:lnTo>
                  <a:pt x="0" y="9393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247" t="-24833" r="-17413" b="-27357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017727" y="4150793"/>
            <a:ext cx="807509" cy="803104"/>
          </a:xfrm>
          <a:custGeom>
            <a:avLst/>
            <a:gdLst/>
            <a:ahLst/>
            <a:cxnLst/>
            <a:rect r="r" b="b" t="t" l="l"/>
            <a:pathLst>
              <a:path h="803104" w="807509">
                <a:moveTo>
                  <a:pt x="0" y="0"/>
                </a:moveTo>
                <a:lnTo>
                  <a:pt x="807509" y="0"/>
                </a:lnTo>
                <a:lnTo>
                  <a:pt x="807509" y="803105"/>
                </a:lnTo>
                <a:lnTo>
                  <a:pt x="0" y="803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1359" y="2948501"/>
            <a:ext cx="6862718" cy="4685391"/>
          </a:xfrm>
          <a:custGeom>
            <a:avLst/>
            <a:gdLst/>
            <a:ahLst/>
            <a:cxnLst/>
            <a:rect r="r" b="b" t="t" l="l"/>
            <a:pathLst>
              <a:path h="4685391" w="6862718">
                <a:moveTo>
                  <a:pt x="0" y="0"/>
                </a:moveTo>
                <a:lnTo>
                  <a:pt x="6862718" y="0"/>
                </a:lnTo>
                <a:lnTo>
                  <a:pt x="6862718" y="4685391"/>
                </a:lnTo>
                <a:lnTo>
                  <a:pt x="0" y="46853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247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981075"/>
            <a:ext cx="6385377" cy="80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4999" spc="-49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Arch</a:t>
            </a:r>
            <a:r>
              <a:rPr lang="en-US" b="true" sz="4999" spc="-49" u="none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itecture globale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17012" y="1028700"/>
            <a:ext cx="7280142" cy="1919801"/>
            <a:chOff x="0" y="0"/>
            <a:chExt cx="9706856" cy="2559734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28575"/>
              <a:ext cx="6509363" cy="72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Sources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270" y="865004"/>
              <a:ext cx="9697586" cy="1694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Bases de d</a:t>
              </a:r>
              <a:r>
                <a:rPr lang="en-US" sz="25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onnées relationnelles, fichiers logs, capteurs IoT, applications web, systèmes transactionnels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822161" y="6866031"/>
            <a:ext cx="4883826" cy="1486858"/>
            <a:chOff x="0" y="0"/>
            <a:chExt cx="6511768" cy="198247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6502508" cy="72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Data lake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260" y="865004"/>
              <a:ext cx="6502508" cy="1117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R</a:t>
              </a:r>
              <a:r>
                <a:rPr lang="en-US" sz="25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aw / Landing → Bronze → Silver → Gold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22161" y="3931391"/>
            <a:ext cx="4883826" cy="1053915"/>
            <a:chOff x="0" y="0"/>
            <a:chExt cx="6511768" cy="140522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6502508" cy="728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49"/>
                </a:lnSpc>
                <a:spcBef>
                  <a:spcPct val="0"/>
                </a:spcBef>
              </a:pPr>
              <a:r>
                <a:rPr lang="en-US" b="true" sz="3499" spc="-34">
                  <a:solidFill>
                    <a:srgbClr val="F8F8F8"/>
                  </a:solidFill>
                  <a:latin typeface="Muli Bold"/>
                  <a:ea typeface="Muli Bold"/>
                  <a:cs typeface="Muli Bold"/>
                  <a:sym typeface="Muli Bold"/>
                </a:rPr>
                <a:t>Outils d’ingection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260" y="865004"/>
              <a:ext cx="6502508" cy="540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</a:pPr>
              <a:r>
                <a:rPr lang="en-US" sz="2500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Sq</a:t>
              </a:r>
              <a:r>
                <a:rPr lang="en-US" sz="2500" u="none">
                  <a:solidFill>
                    <a:srgbClr val="F8F8F8"/>
                  </a:solidFill>
                  <a:latin typeface="Muli"/>
                  <a:ea typeface="Muli"/>
                  <a:cs typeface="Muli"/>
                  <a:sym typeface="Muli"/>
                </a:rPr>
                <a:t>oop, Flume, Kafka, NiFi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7111" y="8001469"/>
            <a:ext cx="6522189" cy="125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8000">
                <a:solidFill>
                  <a:srgbClr val="F8F8F8"/>
                </a:solidFill>
                <a:latin typeface="Muli Bold"/>
                <a:ea typeface="Muli Bold"/>
                <a:cs typeface="Muli Bold"/>
                <a:sym typeface="Muli Bold"/>
              </a:rPr>
              <a:t>Conlusion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-1790854" y="3939545"/>
            <a:ext cx="21869708" cy="2914431"/>
            <a:chOff x="0" y="0"/>
            <a:chExt cx="29159611" cy="38859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672018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321869" y="0"/>
              <a:ext cx="9837742" cy="3885908"/>
            </a:xfrm>
            <a:custGeom>
              <a:avLst/>
              <a:gdLst/>
              <a:ahLst/>
              <a:cxnLst/>
              <a:rect r="r" b="b" t="t" l="l"/>
              <a:pathLst>
                <a:path h="3885908" w="9837742">
                  <a:moveTo>
                    <a:pt x="0" y="0"/>
                  </a:moveTo>
                  <a:lnTo>
                    <a:pt x="9837742" y="0"/>
                  </a:lnTo>
                  <a:lnTo>
                    <a:pt x="9837742" y="3885908"/>
                  </a:lnTo>
                  <a:lnTo>
                    <a:pt x="0" y="3885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rot="0">
            <a:off x="0" y="0"/>
            <a:ext cx="18288000" cy="3958595"/>
          </a:xfrm>
          <a:prstGeom prst="rect">
            <a:avLst/>
          </a:prstGeom>
          <a:solidFill>
            <a:srgbClr val="2620F6"/>
          </a:solidFill>
        </p:spPr>
      </p:sp>
      <p:sp>
        <p:nvSpPr>
          <p:cNvPr name="Freeform 8" id="8"/>
          <p:cNvSpPr/>
          <p:nvPr/>
        </p:nvSpPr>
        <p:spPr>
          <a:xfrm flipH="false" flipV="false" rot="0">
            <a:off x="-1084189" y="8595138"/>
            <a:ext cx="2872351" cy="2671287"/>
          </a:xfrm>
          <a:custGeom>
            <a:avLst/>
            <a:gdLst/>
            <a:ahLst/>
            <a:cxnLst/>
            <a:rect r="r" b="b" t="t" l="l"/>
            <a:pathLst>
              <a:path h="2671287" w="2872351">
                <a:moveTo>
                  <a:pt x="0" y="0"/>
                </a:moveTo>
                <a:lnTo>
                  <a:pt x="2872351" y="0"/>
                </a:lnTo>
                <a:lnTo>
                  <a:pt x="2872351" y="2671286"/>
                </a:lnTo>
                <a:lnTo>
                  <a:pt x="0" y="2671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92789" y="4851400"/>
            <a:ext cx="8902422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b="true" sz="3500" spc="-3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Si vous avez des questions allez sur google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1D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83266" y="4851400"/>
            <a:ext cx="321469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b="true" sz="3500" spc="-35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DAG9YRgJZaw</dc:identifier>
  <dcterms:modified xsi:type="dcterms:W3CDTF">2011-08-01T06:04:30Z</dcterms:modified>
  <cp:revision>1</cp:revision>
  <dc:title>Purple and Blue Corporate Finance Pitch Deck Presentation</dc:title>
</cp:coreProperties>
</file>